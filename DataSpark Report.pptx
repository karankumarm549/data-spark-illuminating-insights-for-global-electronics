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4"/>
  </p:sldMasterIdLst>
  <p:sldIdLst>
    <p:sldId id="257" r:id="rId5"/>
    <p:sldId id="259" r:id="rId6"/>
    <p:sldId id="261" r:id="rId7"/>
    <p:sldId id="262" r:id="rId8"/>
    <p:sldId id="263" r:id="rId9"/>
    <p:sldId id="264" r:id="rId10"/>
    <p:sldId id="265" r:id="rId11"/>
    <p:sldId id="260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184DA70-C731-4C70-880D-CCD4705E623C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677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1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2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3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01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9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47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1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92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7034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7397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429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8324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583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075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63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3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2D6E202-B606-4609-B914-27C9371A1F6D}" type="datetime1">
              <a:rPr lang="en-US" smtClean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8373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A5049F-B7F8-684C-75C6-A2748826B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5314" y="758952"/>
            <a:ext cx="7556686" cy="356615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400" dirty="0" err="1"/>
              <a:t>DataSpark</a:t>
            </a:r>
            <a:r>
              <a:rPr lang="en-US" sz="5400" dirty="0"/>
              <a:t>: Illuminating Insights for Global Electronics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Retail Analytics in the Electronics Industry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13DE4F-F0C9-3FE6-0174-64D397A69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39434"/>
              </p:ext>
            </p:extLst>
          </p:nvPr>
        </p:nvGraphicFramePr>
        <p:xfrm>
          <a:off x="529389" y="818147"/>
          <a:ext cx="10940715" cy="50372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0715">
                  <a:extLst>
                    <a:ext uri="{9D8B030D-6E8A-4147-A177-3AD203B41FA5}">
                      <a16:colId xmlns:a16="http://schemas.microsoft.com/office/drawing/2014/main" val="97114000"/>
                    </a:ext>
                  </a:extLst>
                </a:gridCol>
              </a:tblGrid>
              <a:tr h="5037221">
                <a:tc>
                  <a:txBody>
                    <a:bodyPr/>
                    <a:lstStyle/>
                    <a:p>
                      <a:pPr lvl="1" algn="just">
                        <a:lnSpc>
                          <a:spcPct val="150000"/>
                        </a:lnSpc>
                      </a:pPr>
                      <a:r>
                        <a:rPr lang="en-US" sz="3200" b="0" dirty="0">
                          <a:latin typeface="Georgia" panose="02040502050405020303" pitchFamily="18" charset="0"/>
                        </a:rPr>
                        <a:t>          "Effective sales analysis allows a company to allocate resources more efficiently. It helps determine which products or services are performing well and which are underperforming. This insight enables businesses to focus on promoting high-performing items and reevaluating or discontinuing underperformers."</a:t>
                      </a:r>
                      <a:endParaRPr lang="en-IN" sz="3200" b="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69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03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5680C4-8393-4C30-8BE6-631BF961C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47" y="1394253"/>
            <a:ext cx="6400801" cy="2247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59BB81-D19D-C417-BC2D-B41CBA0BC8A7}"/>
              </a:ext>
            </a:extLst>
          </p:cNvPr>
          <p:cNvSpPr txBox="1"/>
          <p:nvPr/>
        </p:nvSpPr>
        <p:spPr>
          <a:xfrm>
            <a:off x="4235115" y="320842"/>
            <a:ext cx="4395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Georgia" panose="02040502050405020303" pitchFamily="18" charset="0"/>
              </a:rPr>
              <a:t>Male And Female Distribution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C27BEC-5DED-3B29-10BB-168952494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781" y="1271146"/>
            <a:ext cx="3153215" cy="23704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3A057C-A160-1C63-3FBE-D1EAAB8418AC}"/>
              </a:ext>
            </a:extLst>
          </p:cNvPr>
          <p:cNvSpPr txBox="1"/>
          <p:nvPr/>
        </p:nvSpPr>
        <p:spPr>
          <a:xfrm>
            <a:off x="727676" y="4002297"/>
            <a:ext cx="10736648" cy="2534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Small difference in Male and Female counts might indicate that your Products or Services appeal equally to both Genders.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age group of 70 and above has a higher count compared to other age groups, suggesting that older adults are a significant portion of the customer 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US nearly have 6k-above customers, on other sides Italy, France, Netherlands having fewer than 1000 customers which implies that places need for increased focus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31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20004-C31C-BF34-A8BE-2CCDAACE0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62"/>
            <a:ext cx="12192000" cy="68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42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1784FF-DE66-84A6-0B8A-523A6AE32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58"/>
            <a:ext cx="12192000" cy="683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4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2076E-FA02-02EB-4228-608B1E4A4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0"/>
            <a:ext cx="12192000" cy="683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75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F708F-E8E8-9633-5F7E-3F35475CC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3"/>
            <a:ext cx="12192000" cy="684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45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0D72C7-B605-5475-2092-BE831DD59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043819"/>
              </p:ext>
            </p:extLst>
          </p:nvPr>
        </p:nvGraphicFramePr>
        <p:xfrm>
          <a:off x="1828800" y="1340838"/>
          <a:ext cx="8855243" cy="256032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189924">
                  <a:extLst>
                    <a:ext uri="{9D8B030D-6E8A-4147-A177-3AD203B41FA5}">
                      <a16:colId xmlns:a16="http://schemas.microsoft.com/office/drawing/2014/main" val="3367308744"/>
                    </a:ext>
                  </a:extLst>
                </a:gridCol>
                <a:gridCol w="2698081">
                  <a:extLst>
                    <a:ext uri="{9D8B030D-6E8A-4147-A177-3AD203B41FA5}">
                      <a16:colId xmlns:a16="http://schemas.microsoft.com/office/drawing/2014/main" val="3526800600"/>
                    </a:ext>
                  </a:extLst>
                </a:gridCol>
                <a:gridCol w="2753427">
                  <a:extLst>
                    <a:ext uri="{9D8B030D-6E8A-4147-A177-3AD203B41FA5}">
                      <a16:colId xmlns:a16="http://schemas.microsoft.com/office/drawing/2014/main" val="868148464"/>
                    </a:ext>
                  </a:extLst>
                </a:gridCol>
                <a:gridCol w="2213811">
                  <a:extLst>
                    <a:ext uri="{9D8B030D-6E8A-4147-A177-3AD203B41FA5}">
                      <a16:colId xmlns:a16="http://schemas.microsoft.com/office/drawing/2014/main" val="2453300133"/>
                    </a:ext>
                  </a:extLst>
                </a:gridCol>
              </a:tblGrid>
              <a:tr h="33554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Year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Total Sales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Previous Year Sales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Profit Percentage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41799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5092413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741686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5905153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5092413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744083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10264543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5905153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73.99%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45743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15142602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10264543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47.52%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339329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7650993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15142602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- 49.47%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237986"/>
                  </a:ext>
                </a:extLst>
              </a:tr>
              <a:tr h="33554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879424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7650993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- 88.50%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9458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A798DA3-180B-DE70-A252-0F8DC7EDB560}"/>
              </a:ext>
            </a:extLst>
          </p:cNvPr>
          <p:cNvSpPr txBox="1"/>
          <p:nvPr/>
        </p:nvSpPr>
        <p:spPr>
          <a:xfrm>
            <a:off x="3352800" y="368968"/>
            <a:ext cx="5578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Georgia" panose="02040502050405020303" pitchFamily="18" charset="0"/>
              </a:rPr>
              <a:t>Year Wise Profit </a:t>
            </a:r>
            <a:r>
              <a:rPr lang="en-IN" sz="3200" dirty="0" err="1">
                <a:latin typeface="Georgia" panose="02040502050405020303" pitchFamily="18" charset="0"/>
              </a:rPr>
              <a:t>Comparision</a:t>
            </a:r>
            <a:endParaRPr lang="en-IN" sz="3200" dirty="0">
              <a:latin typeface="Georgia" panose="020405020504050203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82BBB7-F9D7-6494-A2EB-099B5F344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466319"/>
              </p:ext>
            </p:extLst>
          </p:nvPr>
        </p:nvGraphicFramePr>
        <p:xfrm>
          <a:off x="978568" y="4023360"/>
          <a:ext cx="10603832" cy="232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03832">
                  <a:extLst>
                    <a:ext uri="{9D8B030D-6E8A-4147-A177-3AD203B41FA5}">
                      <a16:colId xmlns:a16="http://schemas.microsoft.com/office/drawing/2014/main" val="2845275581"/>
                    </a:ext>
                  </a:extLst>
                </a:gridCol>
              </a:tblGrid>
              <a:tr h="232931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b="1" dirty="0">
                          <a:latin typeface="Georgia" panose="02040502050405020303" pitchFamily="18" charset="0"/>
                        </a:rPr>
                        <a:t>Growth and Decline:  </a:t>
                      </a:r>
                      <a:r>
                        <a:rPr lang="en-US" dirty="0">
                          <a:latin typeface="Georgia" panose="02040502050405020303" pitchFamily="18" charset="0"/>
                        </a:rPr>
                        <a:t>The Data Indicates a Period of Growth in Sales from 2016 to 2019, Peaking in 2019. After that, there is a Significant decline in 2020 and  2021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>
                          <a:latin typeface="Georgia" panose="02040502050405020303" pitchFamily="18" charset="0"/>
                        </a:rPr>
                        <a:t>Profit Percentage Fluctuations: </a:t>
                      </a:r>
                      <a:r>
                        <a:rPr lang="en-US" dirty="0">
                          <a:latin typeface="Georgia" panose="02040502050405020303" pitchFamily="18" charset="0"/>
                        </a:rPr>
                        <a:t>The Profit Percentages  Show Large Fluctuations. After a Modest Increase of 15.95% in 2017, there's a sharp rise of 73.99% in 2018 followed by a gain of 47.52% in 2019. Subsequently, there are significant declines of 49.47% in 2020 and 88.50% in 2021.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41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76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DEC1F2-4CE6-4FC6-19CC-58417EEA2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337686"/>
              </p:ext>
            </p:extLst>
          </p:nvPr>
        </p:nvGraphicFramePr>
        <p:xfrm>
          <a:off x="1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279926425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r>
                        <a:rPr lang="en-US" sz="2800" u="sng" dirty="0">
                          <a:latin typeface="Georgia" panose="02040502050405020303" pitchFamily="18" charset="0"/>
                        </a:rPr>
                        <a:t>Enhance Product and Service Offerings:</a:t>
                      </a:r>
                    </a:p>
                    <a:p>
                      <a:endParaRPr lang="en-US" sz="900" u="sng" dirty="0">
                        <a:latin typeface="Georgia" panose="02040502050405020303" pitchFamily="18" charset="0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Georgia" panose="02040502050405020303" pitchFamily="18" charset="0"/>
                        </a:rPr>
                        <a:t>Product Innovation: </a:t>
                      </a:r>
                      <a:r>
                        <a:rPr lang="en-US" sz="2000" dirty="0">
                          <a:latin typeface="Georgia" panose="02040502050405020303" pitchFamily="18" charset="0"/>
                        </a:rPr>
                        <a:t>Continuously innovate and improve your products or services based on market trends and customer feedback.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800" dirty="0">
                        <a:latin typeface="Georgia" panose="02040502050405020303" pitchFamily="18" charset="0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Georgia" panose="02040502050405020303" pitchFamily="18" charset="0"/>
                        </a:rPr>
                        <a:t>Diversification: </a:t>
                      </a:r>
                      <a:r>
                        <a:rPr lang="en-US" sz="2000" dirty="0">
                          <a:latin typeface="Georgia" panose="02040502050405020303" pitchFamily="18" charset="0"/>
                        </a:rPr>
                        <a:t>Expand your product line to cater to a wider range of customer needs or enter new markets.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800" dirty="0">
                        <a:latin typeface="Georgia" panose="02040502050405020303" pitchFamily="18" charset="0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Georgia" panose="02040502050405020303" pitchFamily="18" charset="0"/>
                        </a:rPr>
                        <a:t>Quality Assurance: </a:t>
                      </a:r>
                      <a:r>
                        <a:rPr lang="en-US" sz="2000" dirty="0">
                          <a:latin typeface="Georgia" panose="02040502050405020303" pitchFamily="18" charset="0"/>
                        </a:rPr>
                        <a:t>Ensure high-quality standards for your products or services to build trust and *encourage repeat purchases.</a:t>
                      </a: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latin typeface="Georgia" panose="02040502050405020303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u="sng" dirty="0">
                          <a:latin typeface="Georgia" panose="02040502050405020303" pitchFamily="18" charset="0"/>
                        </a:rPr>
                        <a:t>Optimize Pricing Strategies:</a:t>
                      </a:r>
                      <a:endParaRPr lang="en-US" sz="900" u="sng" dirty="0">
                        <a:latin typeface="Georgia" panose="02040502050405020303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sz="900" u="sng" dirty="0">
                        <a:latin typeface="Georgia" panose="02040502050405020303" pitchFamily="18" charset="0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Georgia" panose="02040502050405020303" pitchFamily="18" charset="0"/>
                        </a:rPr>
                        <a:t>Competitive Pricing: </a:t>
                      </a:r>
                      <a:r>
                        <a:rPr lang="en-US" sz="20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Georgia" panose="02040502050405020303" pitchFamily="18" charset="0"/>
                        </a:rPr>
                        <a:t>Analyze competitor pricing and adjust your pricing strategy to remain competitive without compromising profitability</a:t>
                      </a: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800" dirty="0">
                        <a:solidFill>
                          <a:schemeClr val="tx1">
                            <a:lumMod val="95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Georgia" panose="02040502050405020303" pitchFamily="18" charset="0"/>
                        </a:rPr>
                        <a:t>Dynamic Pricing: </a:t>
                      </a:r>
                      <a:r>
                        <a:rPr lang="en-US" sz="20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Georgia" panose="02040502050405020303" pitchFamily="18" charset="0"/>
                        </a:rPr>
                        <a:t>Implement dynamic pricing models that adjust prices based on demand, customer segments, or market conditions.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800" dirty="0">
                        <a:solidFill>
                          <a:schemeClr val="tx1">
                            <a:lumMod val="95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Georgia" panose="02040502050405020303" pitchFamily="18" charset="0"/>
                        </a:rPr>
                        <a:t>Bundling and Discounts: </a:t>
                      </a:r>
                      <a:r>
                        <a:rPr lang="en-US" sz="2000" dirty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Georgia" panose="02040502050405020303" pitchFamily="18" charset="0"/>
                        </a:rPr>
                        <a:t>Offer product bundles or discounts to incentivize purchases and increase average order value</a:t>
                      </a:r>
                      <a:endParaRPr lang="en-IN" sz="2000" dirty="0">
                        <a:solidFill>
                          <a:schemeClr val="tx1">
                            <a:lumMod val="95000"/>
                          </a:schemeClr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58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279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83</TotalTime>
  <Words>397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Georgia</vt:lpstr>
      <vt:lpstr>Celestial</vt:lpstr>
      <vt:lpstr>DataSpark: Illuminating Insights for Global Electronics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Karankumar</dc:creator>
  <cp:lastModifiedBy>M Karankumar</cp:lastModifiedBy>
  <cp:revision>1</cp:revision>
  <dcterms:created xsi:type="dcterms:W3CDTF">2024-10-25T03:51:03Z</dcterms:created>
  <dcterms:modified xsi:type="dcterms:W3CDTF">2024-10-25T05:14:11Z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